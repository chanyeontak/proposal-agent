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543050"/>
            <a:ext cx="84124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000" b="1">
                <a:gradFill flip="none" rotWithShape="1">
                  <a:gsLst>
                    <a:gs pos="0">
                      <a:srgbClr val="9D7DFF"/>
                    </a:gs>
                    <a:gs pos="100000">
                      <a:srgbClr val="F0C4E0"/>
                    </a:gs>
                  </a:gsLst>
                  <a:lin ang="0" scaled="1"/>
                </a:gradFill>
                <a:latin typeface="Pretendard Black"/>
              </a:rPr>
              <a:t>BIG CAMPFIRE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67462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F66"/>
                </a:solidFill>
                <a:latin typeface="Pretendard Bold"/>
              </a:defRPr>
            </a:pPr>
            <a:r>
              <a:t>마비노기 모바일 2026년 6월 업데이트 쇼케이스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0861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프로모션 대행 제안서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17670"/>
            <a:ext cx="3364991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BEE6"/>
                </a:solidFill>
                <a:latin typeface="Pretendard"/>
              </a:defRPr>
            </a:pPr>
            <a:r>
              <a:t>2026. 4. 26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21767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LAON MARKETING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17219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WHY BIG CAMPFIRE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2870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8BEE6"/>
                </a:solidFill>
                <a:latin typeface="Pretendard"/>
              </a:defRPr>
            </a:pPr>
            <a:r>
              <a:t>마비노기에서 '캠프파이어'는 모임·휴식·이야기의 상징입니다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43050"/>
            <a:ext cx="8412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gradFill flip="none" rotWithShape="1">
                  <a:gsLst>
                    <a:gs pos="0">
                      <a:srgbClr val="6868F1"/>
                    </a:gs>
                    <a:gs pos="100000">
                      <a:srgbClr val="DD6495"/>
                    </a:gs>
                  </a:gsLst>
                  <a:lin ang="0" scaled="1"/>
                </a:gradFill>
                <a:latin typeface="Pretendard Bold"/>
              </a:rPr>
              <a:t>6월의 쇼케이스는 '함께 둘러앉는 밤'이 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77490"/>
            <a:ext cx="2804160" cy="990600"/>
          </a:xfrm>
          <a:prstGeom prst="rect">
            <a:avLst/>
          </a:prstGeom>
          <a:noFill/>
        </p:spPr>
        <p:txBody>
          <a:bodyPr wrap="none" lIns="45720" rIns="45720" tIns="0" bIns="0">
            <a:spAutoFit/>
          </a:bodyPr>
          <a:lstStyle/>
          <a:p>
            <a:pPr algn="ctr"/>
            <a:r>
              <a:rPr sz="6000" b="1">
                <a:solidFill>
                  <a:srgbClr val="F5F0FF"/>
                </a:solidFill>
                <a:latin typeface="Pretendard Black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59530"/>
            <a:ext cx="28041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>
                <a:solidFill>
                  <a:srgbClr val="F0C4E0"/>
                </a:solidFill>
                <a:latin typeface="Pretendard SemiBold"/>
              </a:rPr>
              <a:t>공식 유튜브 송출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97857"/>
            <a:ext cx="28041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000">
                <a:solidFill>
                  <a:srgbClr val="5F5A71"/>
                </a:solidFill>
                <a:latin typeface="Pretendard"/>
              </a:rPr>
              <a:t>마비노기 모바일 공식 채널</a:t>
            </a:r>
          </a:p>
        </p:txBody>
      </p:sp>
      <p:sp>
        <p:nvSpPr>
          <p:cNvPr id="8" name="Rectangle 7"/>
          <p:cNvSpPr/>
          <p:nvPr/>
        </p:nvSpPr>
        <p:spPr>
          <a:xfrm>
            <a:off x="3165348" y="3051810"/>
            <a:ext cx="9144" cy="1405890"/>
          </a:xfrm>
          <a:prstGeom prst="rect">
            <a:avLst/>
          </a:prstGeom>
          <a:solidFill>
            <a:srgbClr val="21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9919" y="2777490"/>
            <a:ext cx="2804160" cy="990600"/>
          </a:xfrm>
          <a:prstGeom prst="rect">
            <a:avLst/>
          </a:prstGeom>
          <a:noFill/>
        </p:spPr>
        <p:txBody>
          <a:bodyPr wrap="none" lIns="45720" rIns="45720" tIns="0" bIns="0">
            <a:spAutoFit/>
          </a:bodyPr>
          <a:lstStyle/>
          <a:p>
            <a:pPr algn="ctr"/>
            <a:r>
              <a:rPr sz="6000" b="1">
                <a:solidFill>
                  <a:srgbClr val="F5F0FF"/>
                </a:solidFill>
                <a:latin typeface="Pretendard Black"/>
              </a:rPr>
              <a:t>60분+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9919" y="3859530"/>
            <a:ext cx="28041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>
                <a:solidFill>
                  <a:srgbClr val="F0C4E0"/>
                </a:solidFill>
                <a:latin typeface="Pretendard SemiBold"/>
              </a:rPr>
              <a:t>쇼케이스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69919" y="4197857"/>
            <a:ext cx="28041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000">
                <a:solidFill>
                  <a:srgbClr val="5F5A71"/>
                </a:solidFill>
                <a:latin typeface="Pretendard"/>
              </a:rPr>
              <a:t>개막 + 발표 + Q&amp;A + 피날레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9508" y="3051810"/>
            <a:ext cx="9144" cy="1405890"/>
          </a:xfrm>
          <a:prstGeom prst="rect">
            <a:avLst/>
          </a:prstGeom>
          <a:solidFill>
            <a:srgbClr val="21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4080" y="2777490"/>
            <a:ext cx="2804160" cy="990600"/>
          </a:xfrm>
          <a:prstGeom prst="rect">
            <a:avLst/>
          </a:prstGeom>
          <a:noFill/>
        </p:spPr>
        <p:txBody>
          <a:bodyPr wrap="none" lIns="45720" rIns="45720" tIns="0" bIns="0">
            <a:spAutoFit/>
          </a:bodyPr>
          <a:lstStyle/>
          <a:p>
            <a:pPr algn="ctr"/>
            <a:r>
              <a:rPr sz="6000" b="1">
                <a:solidFill>
                  <a:srgbClr val="F5F0FF"/>
                </a:solidFill>
                <a:latin typeface="Pretendard Black"/>
              </a:rPr>
              <a:t>액티브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4080" y="3859530"/>
            <a:ext cx="28041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200">
                <a:solidFill>
                  <a:srgbClr val="F0C4E0"/>
                </a:solidFill>
                <a:latin typeface="Pretendard SemiBold"/>
              </a:rPr>
              <a:t>타겟 유저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4080" y="4197857"/>
            <a:ext cx="2804160" cy="3200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ctr"/>
            <a:r>
              <a:rPr sz="1000">
                <a:solidFill>
                  <a:srgbClr val="5F5A71"/>
                </a:solidFill>
                <a:latin typeface="Pretendard"/>
              </a:rPr>
              <a:t>6월 메이저 업데이트 기대 유저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OUR PROPOSAL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온라인 라이브 쇼케이스를 '경험'으로 만드는 3가지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gradFill flip="none" rotWithShape="1">
                  <a:gsLst>
                    <a:gs pos="0">
                      <a:srgbClr val="6868F1"/>
                    </a:gs>
                    <a:gs pos="100000">
                      <a:srgbClr val="DD6495"/>
                    </a:gs>
                  </a:gsLst>
                  <a:lin ang="0" scaled="1"/>
                </a:gradFill>
                <a:latin typeface="Pretendard Bold"/>
              </a:rPr>
              <a:t>세트 몰입 · 스토리텔링 · 시청자 참여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IMMERSIVE 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IMMERSIVE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캠프파이어</a:t>
            </a:r>
            <a:br/>
            <a:r>
              <a:t>몰입형 스튜디오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따뜻한 불꽃 연출 · 물리 세트 + LED 하이브리드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NARRATIVE SHOW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501796"/>
            <a:ext cx="2651760" cy="36576"/>
          </a:xfrm>
          <a:prstGeom prst="rect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NARRATIVE SHOW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드라마처럼 펼쳐지는</a:t>
            </a:r>
            <a:br/>
            <a:r>
              <a:t>4막 구성 방송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오프닝 시네마틱 → 대발표 → Q&amp;A → 피날레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LIVE ENGAGE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501796"/>
            <a:ext cx="2651760" cy="36576"/>
          </a:xfrm>
          <a:prstGeom prst="rect">
            <a:avLst/>
          </a:prstGeom>
          <a:solidFill>
            <a:srgbClr val="F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0C4E0"/>
                </a:solidFill>
                <a:latin typeface="Pretendard Bold"/>
              </a:defRPr>
            </a:pPr>
            <a:r>
              <a:t>LIVE ENGAGE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시청자가 주인공인</a:t>
            </a:r>
            <a:br/>
            <a:r>
              <a:t>실시간 참여 방송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채팅 반영 · 투표 · 시청자 질문 무대 투입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02A"/>
            </a:gs>
            <a:gs pos="100000">
              <a:srgbClr val="211F3C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990534"/>
            <a:ext cx="8412480" cy="10287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5F0FF"/>
                </a:solidFill>
                <a:latin typeface="Pretendard Black"/>
              </a:defRPr>
            </a:pPr>
            <a:r>
              <a:t>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064954"/>
            <a:ext cx="8412480" cy="36004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마비노기 모바일 현재 좌표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533584"/>
            <a:ext cx="8412480" cy="30860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C4E0"/>
                </a:solidFill>
                <a:latin typeface="Pretendard"/>
              </a:defRPr>
            </a:pPr>
            <a:r>
              <a:t>1주년 이후, 팬덤은 '다음 챕터'를 기다린다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7777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GAME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넥슨 데브캣이 풀어낸 판타지 라이프 MMORPG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5892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5F0FF"/>
                </a:solidFill>
                <a:latin typeface="Pretendard Bold"/>
              </a:defRPr>
            </a:pPr>
            <a:r>
              <a:t>1주년 업데이트 직후, 기대감이 정점에 도달한 시점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84070"/>
            <a:ext cx="2651760" cy="1380744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29790"/>
            <a:ext cx="2651760" cy="6903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12516"/>
            <a:ext cx="2651760" cy="41422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464814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57454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48862"/>
            <a:ext cx="2651760" cy="46693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2025.02</a:t>
            </a:r>
            <a:br/>
            <a:r>
              <a:t>정식 출시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61520"/>
            <a:ext cx="2651760" cy="5533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데브캣 오리지널 캐릭터 집결 MMORPG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084070"/>
            <a:ext cx="2651760" cy="1380744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129790"/>
            <a:ext cx="2651760" cy="6903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12516"/>
            <a:ext cx="2651760" cy="41422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1ST ANNIVERSARY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464814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57454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1ST ANNIVERSARY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848862"/>
            <a:ext cx="2651760" cy="46693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2026.03.27</a:t>
            </a:r>
            <a:br/>
            <a:r>
              <a:t>1주년 대규모 업데이트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361520"/>
            <a:ext cx="2651760" cy="5533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여신강림 4장 · 신규 심층던전 · 룬 평가 시스템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084070"/>
            <a:ext cx="2651760" cy="1380744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129790"/>
            <a:ext cx="2651760" cy="6903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12516"/>
            <a:ext cx="2651760" cy="41422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NEXT SHOWCASE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464814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57454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NEXT SHOWCASE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848862"/>
            <a:ext cx="2651760" cy="46693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2026.06</a:t>
            </a:r>
            <a:br/>
            <a:r>
              <a:t>빅 캠프파이어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61520"/>
            <a:ext cx="2651760" cy="5533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신규 시즌 · 핵심 업데이트 · 운영 방향 공개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887468"/>
            <a:ext cx="841248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691B4"/>
                </a:solidFill>
                <a:latin typeface="Pretendard"/>
              </a:defRPr>
            </a:pPr>
            <a:r>
              <a:t>출처: 넥슨 공식 공지 (mabinogimobile.nexon.com), 게임메카 2026.03.27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LIVE SHOWCASE TREND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게임 라이브 쇼케이스는 '발표회'가 아닌 '팬덤 행사'로 진화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5892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5F0FF"/>
                </a:solidFill>
                <a:latin typeface="Pretendard Bold"/>
              </a:defRPr>
            </a:pPr>
            <a:r>
              <a:t>스튜디오 몰입감 + 실시간 참여가 승부를 결정한다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84070"/>
            <a:ext cx="2651760" cy="1380744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29790"/>
            <a:ext cx="2651760" cy="6903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12516"/>
            <a:ext cx="2651760" cy="41422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SET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464814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57454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SET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48862"/>
            <a:ext cx="2651760" cy="46693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물리 세트 × LED</a:t>
            </a:r>
            <a:br/>
            <a:r>
              <a:t>하이브리드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61520"/>
            <a:ext cx="2651760" cy="5533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IP 세계관 시각화 · 카메라 앵글 다양성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084070"/>
            <a:ext cx="2651760" cy="1380744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129790"/>
            <a:ext cx="2651760" cy="6903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12516"/>
            <a:ext cx="2651760" cy="41422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STORYTELLING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464814"/>
            <a:ext cx="2651760" cy="36576"/>
          </a:xfrm>
          <a:prstGeom prst="rect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57454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STORYTELLING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848862"/>
            <a:ext cx="2651760" cy="46693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극장형</a:t>
            </a:r>
            <a:br/>
            <a:r>
              <a:t>방송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361520"/>
            <a:ext cx="2651760" cy="5533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Act 1-4 드라마틱 전개 · 중간 시네마틱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084070"/>
            <a:ext cx="2651760" cy="1380744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129790"/>
            <a:ext cx="2651760" cy="6903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12516"/>
            <a:ext cx="2651760" cy="41422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INTERACTION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464814"/>
            <a:ext cx="2651760" cy="36576"/>
          </a:xfrm>
          <a:prstGeom prst="rect">
            <a:avLst/>
          </a:prstGeom>
          <a:solidFill>
            <a:srgbClr val="F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57454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0C4E0"/>
                </a:solidFill>
                <a:latin typeface="Pretendard Bold"/>
              </a:defRPr>
            </a:pPr>
            <a:r>
              <a:t>INTERACTION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848862"/>
            <a:ext cx="2651760" cy="46693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실시간 채팅</a:t>
            </a:r>
            <a:br/>
            <a:r>
              <a:t>반영 구조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61520"/>
            <a:ext cx="2651760" cy="5533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시청자 질문 → 무대 · 투표 · 이스터에그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02A"/>
            </a:gs>
            <a:gs pos="100000">
              <a:srgbClr val="211F3C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990534"/>
            <a:ext cx="8412480" cy="10287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5F0FF"/>
                </a:solidFill>
                <a:latin typeface="Pretendard Black"/>
              </a:defRPr>
            </a:pPr>
            <a:r>
              <a:t>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064954"/>
            <a:ext cx="8412480" cy="36004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BIG CAMPFIRE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533584"/>
            <a:ext cx="8412480" cy="30860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C4E0"/>
                </a:solidFill>
                <a:latin typeface="Pretendard"/>
              </a:defRPr>
            </a:pPr>
            <a:r>
              <a:t>모닥불 옆에 둘러앉아 나누는 밤의 이야기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7777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1435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31570"/>
            <a:ext cx="841248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6000" b="1">
                <a:gradFill flip="none" rotWithShape="1">
                  <a:gsLst>
                    <a:gs pos="0">
                      <a:srgbClr val="6868F1"/>
                    </a:gs>
                    <a:gs pos="100000">
                      <a:srgbClr val="DD6495"/>
                    </a:gs>
                  </a:gsLst>
                  <a:lin ang="0" scaled="1"/>
                </a:gradFill>
                <a:latin typeface="Pretendard Black"/>
              </a:rPr>
              <a:t>"둘러앉는 시간"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828925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F66"/>
                </a:solidFill>
                <a:latin typeface="Pretendard Bold"/>
              </a:defRPr>
            </a:pPr>
            <a:r>
              <a:t>COME SIT BY THE FIRE.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343275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유저와 개발진이 같은 캠프파이어를 둘러싸고 나누는 60분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8BEE6"/>
                </a:solidFill>
                <a:latin typeface="Pretendard"/>
              </a:defRPr>
            </a:pPr>
            <a:r>
              <a:t>마비노기에서 캠프파이어는 유저들이 모이는 장소입니다.</a:t>
            </a:r>
            <a:br/>
            <a:r>
              <a:t>6월의 쇼케이스도 그 장면 그대로 재현합니다.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3 WIN THEMES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캠프파이어 컨셉을 지탱하는 3개의 기둥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세트 · 구성 · 참여 — 3축 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① WARM 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① WARM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따뜻한 불빛의</a:t>
            </a:r>
            <a:br/>
            <a:r>
              <a:t>캠프파이어 스튜디오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물리 세트 + LED · 카메라 다중 앵글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② STORY ARC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501796"/>
            <a:ext cx="2651760" cy="36576"/>
          </a:xfrm>
          <a:prstGeom prst="rect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② STORY ARC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시네마틱 오프닝부터</a:t>
            </a:r>
            <a:br/>
            <a:r>
              <a:t>피날레까지의 4막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웰컴 → 회고 → ★대발표 → Q&amp;A → 마무리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③ LIVE BRIDGE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501796"/>
            <a:ext cx="2651760" cy="36576"/>
          </a:xfrm>
          <a:prstGeom prst="rect">
            <a:avLst/>
          </a:prstGeom>
          <a:solidFill>
            <a:srgbClr val="F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0C4E0"/>
                </a:solidFill>
                <a:latin typeface="Pretendard Bold"/>
              </a:defRPr>
            </a:pPr>
            <a:r>
              <a:t>③ LIVE BRIDGE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실시간 채팅을</a:t>
            </a:r>
            <a:br/>
            <a:r>
              <a:t>무대 위로 끌어올림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유저 질문 · 투표 · 반응을 방송에 즉시 반영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VIEWER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시청자가 스트리밍 1시간 동안 경험하는 감정선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알림 → 접속 → 몰입 → 반응 → 공유</a:t>
            </a:r>
          </a:p>
        </p:txBody>
      </p:sp>
      <p:sp>
        <p:nvSpPr>
          <p:cNvPr id="6" name="Oval 5"/>
          <p:cNvSpPr/>
          <p:nvPr/>
        </p:nvSpPr>
        <p:spPr>
          <a:xfrm>
            <a:off x="749807" y="2429509"/>
            <a:ext cx="914400" cy="914400"/>
          </a:xfrm>
          <a:prstGeom prst="ellipse">
            <a:avLst/>
          </a:prstGeom>
          <a:solidFill>
            <a:srgbClr val="211F3C"/>
          </a:solidFill>
          <a:ln w="31750">
            <a:solidFill>
              <a:srgbClr val="D4A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72309"/>
            <a:ext cx="168249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81069"/>
            <a:ext cx="168249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예고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92549"/>
            <a:ext cx="1682495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티저·카운트다운</a:t>
            </a:r>
          </a:p>
        </p:txBody>
      </p:sp>
      <p:sp>
        <p:nvSpPr>
          <p:cNvPr id="10" name="Chevron 9"/>
          <p:cNvSpPr/>
          <p:nvPr/>
        </p:nvSpPr>
        <p:spPr>
          <a:xfrm>
            <a:off x="1773935" y="2749550"/>
            <a:ext cx="228600" cy="274320"/>
          </a:xfrm>
          <a:prstGeom prst="chevron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1911095" y="2749550"/>
            <a:ext cx="228600" cy="274320"/>
          </a:xfrm>
          <a:prstGeom prst="chevron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32303" y="2429509"/>
            <a:ext cx="914400" cy="914400"/>
          </a:xfrm>
          <a:prstGeom prst="ellipse">
            <a:avLst/>
          </a:prstGeom>
          <a:solidFill>
            <a:srgbClr val="211F3C"/>
          </a:solidFill>
          <a:ln w="31750">
            <a:solidFill>
              <a:srgbClr val="D4A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8255" y="1972309"/>
            <a:ext cx="168249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48255" y="3481069"/>
            <a:ext cx="168249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접속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5" y="3892549"/>
            <a:ext cx="1682495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라이브 시작 전 웰컴</a:t>
            </a:r>
          </a:p>
        </p:txBody>
      </p:sp>
      <p:sp>
        <p:nvSpPr>
          <p:cNvPr id="16" name="Chevron 15"/>
          <p:cNvSpPr/>
          <p:nvPr/>
        </p:nvSpPr>
        <p:spPr>
          <a:xfrm>
            <a:off x="3456432" y="2749550"/>
            <a:ext cx="228600" cy="274320"/>
          </a:xfrm>
          <a:prstGeom prst="chevron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3593592" y="2749550"/>
            <a:ext cx="228600" cy="274320"/>
          </a:xfrm>
          <a:prstGeom prst="chevron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14800" y="2429509"/>
            <a:ext cx="914400" cy="914400"/>
          </a:xfrm>
          <a:prstGeom prst="ellipse">
            <a:avLst/>
          </a:prstGeom>
          <a:solidFill>
            <a:srgbClr val="211F3C"/>
          </a:solidFill>
          <a:ln w="31750">
            <a:solidFill>
              <a:srgbClr val="D4A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1972309"/>
            <a:ext cx="168249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3481069"/>
            <a:ext cx="168249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몰입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3892549"/>
            <a:ext cx="1682495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4막 방송 본편</a:t>
            </a:r>
          </a:p>
        </p:txBody>
      </p:sp>
      <p:sp>
        <p:nvSpPr>
          <p:cNvPr id="22" name="Chevron 21"/>
          <p:cNvSpPr/>
          <p:nvPr/>
        </p:nvSpPr>
        <p:spPr>
          <a:xfrm>
            <a:off x="5138928" y="2749550"/>
            <a:ext cx="228600" cy="274320"/>
          </a:xfrm>
          <a:prstGeom prst="chevron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5276088" y="2749550"/>
            <a:ext cx="228600" cy="274320"/>
          </a:xfrm>
          <a:prstGeom prst="chevron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97296" y="2429509"/>
            <a:ext cx="914400" cy="914400"/>
          </a:xfrm>
          <a:prstGeom prst="ellipse">
            <a:avLst/>
          </a:prstGeom>
          <a:solidFill>
            <a:srgbClr val="211F3C"/>
          </a:solidFill>
          <a:ln w="31750">
            <a:solidFill>
              <a:srgbClr val="D4A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3248" y="1972309"/>
            <a:ext cx="168249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3248" y="3481069"/>
            <a:ext cx="168249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참여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3248" y="3892549"/>
            <a:ext cx="1682495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채팅·Q&amp;A·투표</a:t>
            </a:r>
          </a:p>
        </p:txBody>
      </p:sp>
      <p:sp>
        <p:nvSpPr>
          <p:cNvPr id="28" name="Chevron 27"/>
          <p:cNvSpPr/>
          <p:nvPr/>
        </p:nvSpPr>
        <p:spPr>
          <a:xfrm>
            <a:off x="6821424" y="2749550"/>
            <a:ext cx="228600" cy="274320"/>
          </a:xfrm>
          <a:prstGeom prst="chevron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evron 28"/>
          <p:cNvSpPr/>
          <p:nvPr/>
        </p:nvSpPr>
        <p:spPr>
          <a:xfrm>
            <a:off x="6958584" y="2749550"/>
            <a:ext cx="228600" cy="274320"/>
          </a:xfrm>
          <a:prstGeom prst="chevron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79792" y="2429509"/>
            <a:ext cx="914400" cy="914400"/>
          </a:xfrm>
          <a:prstGeom prst="ellipse">
            <a:avLst/>
          </a:prstGeom>
          <a:solidFill>
            <a:srgbClr val="211F3C"/>
          </a:solidFill>
          <a:ln w="31750">
            <a:solidFill>
              <a:srgbClr val="D4A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95744" y="1972309"/>
            <a:ext cx="168249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5744" y="3481069"/>
            <a:ext cx="1682495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공유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95744" y="3892549"/>
            <a:ext cx="1682495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클립·숏폼 확산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02A"/>
            </a:gs>
            <a:gs pos="100000">
              <a:srgbClr val="211F3C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990534"/>
            <a:ext cx="8412480" cy="10287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5F0FF"/>
                </a:solidFill>
                <a:latin typeface="Pretendard Black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064954"/>
            <a:ext cx="8412480" cy="36004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세트 · 구성 · 제작물 상세 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533584"/>
            <a:ext cx="8412480" cy="30860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C4E0"/>
                </a:solidFill>
                <a:latin typeface="Pretendard"/>
              </a:defRPr>
            </a:pPr>
            <a:r>
              <a:t>기획부터 후속 운영까지, 3개월을 설계합니다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7777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3-MONTH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계약 체결부터 결과 리포트까지의 전체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5월 준비 · 6월 실행 · 7월 확산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109469"/>
          <a:ext cx="8412480" cy="280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50678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기간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일자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단계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주요 Task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</a:tr>
              <a:tr h="350678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Week 1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5/07~5/13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킥오프 &amp; 컨셉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방향성 확정 · 스튜디오 로케이션 선정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350678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Week 2-3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5/14~5/27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기획 &amp; 대본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방송 시나리오 · 게스트 섭외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350678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Week 4-5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5/28~6/10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제작 &amp; 세트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OAP/타이틀/루핑 · 세트 제작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350678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Week 6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6/11~6/14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리허설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기술 리허설 2회 · 최종 점검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350678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Week 7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6/15 중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★ 쇼케이스 실행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라이브 방송 송출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350678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Week 8-9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6/16~6/30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후속 콘텐츠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숏폼 · 클립 · 요약 영상 배포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350678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Week 10-13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7/01~7/31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결과 리포트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KPI 분석 · 정산 · 인사이트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SHOWCASE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쇼케이스 당일 약 60분, 분 단위 방송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오프닝부터 피날레까지 매끄러운 흐름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109469"/>
          <a:ext cx="8412480" cy="2805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11714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시간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프로그램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구성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</a:tr>
              <a:tr h="311714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-30분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방송 준비·웰컴 스탠바이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BGM + 카운트다운 루핑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311714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00:00~03:00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오프닝 시네마틱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타이틀 + OAP 재생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311714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03:00~10:00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Act 1 — Welcome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호스트 인사 · 쇼케이스 안내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311714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10:00~18:00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Act 2 — Story So Far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1주년 회고 · 커뮤니티 하이라이트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311714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18:00~38:00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Act 3 — ★ Big Reveal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★ 6월 업데이트 핵심 발표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311714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38:00~50:00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Act 4 — Around the Fire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개발진 Q&amp;A · 시청자 채팅 반영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311714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50:00~58:00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Special Program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게스트 라이브 또는 시연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311714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58:00~60:00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피날레 &amp; 예고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커밍순 티저 + 클로징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SHOW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'발표 나열'이 아닌 '이야기 전개'로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4막 극장형 구성 — 몰입과 환기의 리듬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ACT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ACT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Welcome</a:t>
            </a:r>
            <a:br/>
            <a:r>
              <a:t>캠프파이어 점화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시네마틱 오프닝 + 호스트 웰컴 · 분위기 형성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ACT 2-3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ACT 2-3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Story + Reveal</a:t>
            </a:r>
            <a:br/>
            <a:r>
              <a:t>회고 → 대발표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1주년 회고 → ★ 6월 업데이트 핵심 공개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ACT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ACT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Around the Fire</a:t>
            </a:r>
            <a:br/>
            <a:r>
              <a:t>개발진·유저 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개발진 Q&amp;A + 시청자 채팅 실시간 반영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SET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모닥불·나무·별빛 — 마비노기 캠프파이어 감성 그대로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1">
                <a:gradFill flip="none" rotWithShape="1">
                  <a:gsLst>
                    <a:gs pos="0">
                      <a:srgbClr val="6868F1"/>
                    </a:gs>
                    <a:gs pos="100000">
                      <a:srgbClr val="DD6495"/>
                    </a:gs>
                  </a:gsLst>
                  <a:lin ang="0" scaled="1"/>
                </a:gradFill>
                <a:latin typeface="Pretendard Bold"/>
              </a:rPr>
              <a:t>물리 세트 + LED 하이브리드 스튜디오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457200" y="2200909"/>
            <a:ext cx="2560320" cy="1188720"/>
          </a:xfrm>
          <a:prstGeom prst="parallelogram">
            <a:avLst>
              <a:gd name="adj" fmla="val 15000"/>
            </a:avLst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600">
                <a:solidFill>
                  <a:srgbClr val="F5F0FF"/>
                </a:solidFill>
                <a:latin typeface="Pretendard Medium"/>
              </a:rPr>
              <a:t>MAIN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678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호스트 메인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3291840" y="2200909"/>
            <a:ext cx="2560320" cy="1188720"/>
          </a:xfrm>
          <a:prstGeom prst="parallelogram">
            <a:avLst>
              <a:gd name="adj" fmla="val 15000"/>
            </a:avLst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600">
                <a:solidFill>
                  <a:srgbClr val="F5F0FF"/>
                </a:solidFill>
                <a:latin typeface="Pretendard Medium"/>
              </a:rPr>
              <a:t>CAMPFIRE 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52678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캠프파이어 중앙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6126480" y="2200909"/>
            <a:ext cx="2560320" cy="1188720"/>
          </a:xfrm>
          <a:prstGeom prst="parallelogram">
            <a:avLst>
              <a:gd name="adj" fmla="val 15000"/>
            </a:avLst>
          </a:prstGeom>
          <a:solidFill>
            <a:srgbClr val="F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wrap="square"/>
          <a:lstStyle/>
          <a:p>
            <a:pPr algn="ctr"/>
            <a:r>
              <a:rPr sz="1600">
                <a:solidFill>
                  <a:srgbClr val="F5F0FF"/>
                </a:solidFill>
                <a:latin typeface="Pretendard Medium"/>
              </a:rPr>
              <a:t>INTERACT 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52678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실시간 채팅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8399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8BEE6"/>
                </a:solidFill>
                <a:latin typeface="Pretendard"/>
              </a:defRPr>
            </a:pPr>
            <a:r>
              <a:t>호스트 메인 공간 · 모닥불 중앙 프로젝션 · 시청자 채팅 LED 3면 구성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STUDIO RENDER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캠프파이어 스튜디오 컨셉 비주얼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따뜻한 불빛·소재·공간감의 밤 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55190"/>
            <a:ext cx="8412480" cy="1891030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00910"/>
            <a:ext cx="8412480" cy="94551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89808"/>
            <a:ext cx="8412480" cy="56730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빅 캠프파이어 스튜디오 예상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833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빅 캠프파이어 스튜디오 예상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491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프리셋 키비주얼은 최종 프로덕션 단계에서 확정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PRODUCTION 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RFP 요구사항 + 쇼케이스 완성도에 필요한 제작물 전반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영상 4종 · 세트 · 방송 그래픽 — 원스톱 체계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109469"/>
          <a:ext cx="8412480" cy="2805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분류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항목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세부 구성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</a:tr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OAP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On-Air Promotion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3~5분 티저 · 본방 예고 · 애프터 영상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타이틀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쇼케이스 타이틀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메인 로고 모션 · 챕터별 전환 타이틀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루핑 영상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대기 시간 루핑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카운트다운 + IP 배경 순환 영상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방송 그래픽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실시간 송출 그래픽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G/B · Lower Third · 이벤트 애니메이션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공간·세트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스튜디오 물리 세트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메인 + 캠프파이어 + LED 월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사후 콘텐츠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숏폼 / 클립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하이라이트 5종 · 요약 풀영상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MOTION ASSETS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라이브 방송의 '첫인상·전환·여운'을 만드는 영상 자산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OAP · 타이틀 · 루핑 영상 제작 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OAP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OAP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On-Air Promotion</a:t>
            </a:r>
            <a:br/>
            <a:r>
              <a:t>3종 × 60-90초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티저 · 카운트다운 · 피날레 · 감성적 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TITLE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501796"/>
            <a:ext cx="2651760" cy="36576"/>
          </a:xfrm>
          <a:prstGeom prst="rect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쇼케이스 타이틀</a:t>
            </a:r>
            <a:br/>
            <a:r>
              <a:t>모션 그래픽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메인 로고 + 챕터 전환 4종 · 시네마틱 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501796"/>
            <a:ext cx="2651760" cy="36576"/>
          </a:xfrm>
          <a:prstGeom prst="rect">
            <a:avLst/>
          </a:prstGeom>
          <a:solidFill>
            <a:srgbClr val="F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0C4E0"/>
                </a:solidFill>
                <a:latin typeface="Pretendard Bold"/>
              </a:defRPr>
            </a:pPr>
            <a:r>
              <a:t>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루핑 영상</a:t>
            </a:r>
            <a:br/>
            <a:r>
              <a:t>대기 시간용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IP 배경 + 카운트다운 · 15분 반복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BROADCAST GRAPHICS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라이브 송출 중 실시간으로 움직이는 그래픽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G/B · Lower Third · 애니메이션 — 통일된 VI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109469"/>
          <a:ext cx="8412480" cy="2805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구분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내용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비고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</a:tr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G/B 월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메인 배경 LED 그래픽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캠프파이어 + 별빛 배경 루프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Lower Third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호스트·게스트 이름표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등장 애니메이션 + 직함 표기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Callout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강조 팝업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업데이트 명 · 수치 강조 10종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Transition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챕터 전환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Act 1→2→3→4 전환 4종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Overlay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실시간 채팅 프레임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시청자 댓글 하단 노출 UI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0077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Endcard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클로징 그래픽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커밍순 + 공식 채널 안내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SPECIAL 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'업데이트 브리핑'에서 '팬덤 행사'로 격상하는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공연 · 이벤트 · 시청자 참여 프로그램 검토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LIVE MUSIC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LIVE MUSIC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OST 아티스트</a:t>
            </a:r>
            <a:br/>
            <a:r>
              <a:t>어쿠스틱 공연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마비노기 OST 기반 3-4곡 · 감성 마무리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SPECIAL GUEST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501796"/>
            <a:ext cx="2651760" cy="36576"/>
          </a:xfrm>
          <a:prstGeom prst="rect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SPECIAL GUEST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모델·인플루언서</a:t>
            </a:r>
            <a:br/>
            <a:r>
              <a:t>라이브 시연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RPG 전문 스트리머 · 신규 콘텐츠 플레이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VIEWER PARTY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501796"/>
            <a:ext cx="2651760" cy="36576"/>
          </a:xfrm>
          <a:prstGeom prst="rect">
            <a:avLst/>
          </a:prstGeom>
          <a:solidFill>
            <a:srgbClr val="F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0C4E0"/>
                </a:solidFill>
                <a:latin typeface="Pretendard Bold"/>
              </a:defRPr>
            </a:pPr>
            <a:r>
              <a:t>VIEWER PARTY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시청자 이벤트</a:t>
            </a:r>
            <a:br/>
            <a:r>
              <a:t>참여형 코너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실시간 투표 · 퀴즈 · 한정 코드 증정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VIEWER INTERACTION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유튜브 라이브 채팅을 방송 연출의 일부로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5892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5F0FF"/>
                </a:solidFill>
                <a:latin typeface="Pretendard Bold"/>
              </a:defRPr>
            </a:pPr>
            <a:r>
              <a:t>실시간 채팅을 무대 위로 끌어올리는 3가지 장치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84070"/>
            <a:ext cx="2651760" cy="1380744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29790"/>
            <a:ext cx="2651760" cy="6903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12516"/>
            <a:ext cx="2651760" cy="41422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CHAT PICK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464814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57454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CHAT PICK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48862"/>
            <a:ext cx="2651760" cy="46693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실시간 채팅</a:t>
            </a:r>
            <a:br/>
            <a:r>
              <a:t>하이라이트 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61520"/>
            <a:ext cx="2651760" cy="5533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시청자 댓글 5-10건 무대 스크린 투사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084070"/>
            <a:ext cx="2651760" cy="1380744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129790"/>
            <a:ext cx="2651760" cy="6903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12516"/>
            <a:ext cx="2651760" cy="41422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LIVE POLL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464814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57454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LIVE POLL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848862"/>
            <a:ext cx="2651760" cy="46693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즉석 투표</a:t>
            </a:r>
            <a:br/>
            <a:r>
              <a:t>콘텐츠 선택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361520"/>
            <a:ext cx="2651760" cy="5533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차기 업데이트 방향 2-3개 즉석 투표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084070"/>
            <a:ext cx="2651760" cy="1380744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129790"/>
            <a:ext cx="2651760" cy="6903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12516"/>
            <a:ext cx="2651760" cy="41422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Q&amp;A BRIDGE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464814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57454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Q&amp;A BRIDGE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848862"/>
            <a:ext cx="2651760" cy="46693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Q&amp;A</a:t>
            </a:r>
            <a:br/>
            <a:r>
              <a:t>채팅 → 개발진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61520"/>
            <a:ext cx="2651760" cy="55337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사전 질문 + 실시간 선별 질문 혼합 응답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02A"/>
            </a:gs>
            <a:gs pos="100000">
              <a:srgbClr val="211F3C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990534"/>
            <a:ext cx="8412480" cy="10287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5F0FF"/>
                </a:solidFill>
                <a:latin typeface="Pretendard Black"/>
              </a:defRPr>
            </a:pPr>
            <a:r>
              <a:t>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064954"/>
            <a:ext cx="8412480" cy="36004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운영 관리 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533584"/>
            <a:ext cx="8412480" cy="30860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C4E0"/>
                </a:solidFill>
                <a:latin typeface="Pretendard"/>
              </a:defRPr>
            </a:pPr>
            <a:r>
              <a:t>라이브 방송의 '0 지연·0 사고'를 위한 조직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7777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PROJECT ORGANIZATION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총 13인 전담 TF · 4개 본부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기획 · 제작 · 방송 · 운영 4분할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9469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8BEE6"/>
                </a:solidFill>
                <a:latin typeface="Pretendard Medium"/>
              </a:defRPr>
            </a:pPr>
            <a:r>
              <a:t>기획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8069"/>
            <a:ext cx="825703" cy="320040"/>
          </a:xfrm>
          <a:prstGeom prst="rect">
            <a:avLst/>
          </a:prstGeom>
          <a:solidFill>
            <a:srgbClr val="5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총괄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7183" y="2338069"/>
            <a:ext cx="103555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0FF"/>
                </a:solidFill>
                <a:latin typeface="Pretendard"/>
              </a:defRPr>
            </a:pPr>
            <a:r>
              <a:t>최승진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31261"/>
            <a:ext cx="825703" cy="320040"/>
          </a:xfrm>
          <a:prstGeom prst="rect">
            <a:avLst/>
          </a:prstGeom>
          <a:solidFill>
            <a:srgbClr val="5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7183" y="2731261"/>
            <a:ext cx="103555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0FF"/>
                </a:solidFill>
                <a:latin typeface="Pretendard"/>
              </a:defRPr>
            </a:pPr>
            <a:r>
              <a:t>탁찬연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24453"/>
            <a:ext cx="825703" cy="320040"/>
          </a:xfrm>
          <a:prstGeom prst="rect">
            <a:avLst/>
          </a:prstGeom>
          <a:solidFill>
            <a:srgbClr val="5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플래너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7183" y="3124453"/>
            <a:ext cx="103555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0FF"/>
                </a:solidFill>
                <a:latin typeface="Pretendard"/>
              </a:defRPr>
            </a:pPr>
            <a:r>
              <a:t>이신지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109469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8BEE6"/>
                </a:solidFill>
                <a:latin typeface="Pretendard Medium"/>
              </a:defRPr>
            </a:pPr>
            <a:r>
              <a:t>제작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2338069"/>
            <a:ext cx="825703" cy="320040"/>
          </a:xfrm>
          <a:prstGeom prst="rect">
            <a:avLst/>
          </a:prstGeom>
          <a:solidFill>
            <a:srgbClr val="5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디자인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0303" y="2338069"/>
            <a:ext cx="103555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0FF"/>
                </a:solidFill>
                <a:latin typeface="Pretendard"/>
              </a:defRPr>
            </a:pPr>
            <a:r>
              <a:t>구유빈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79" y="2731261"/>
            <a:ext cx="825703" cy="320040"/>
          </a:xfrm>
          <a:prstGeom prst="rect">
            <a:avLst/>
          </a:prstGeom>
          <a:solidFill>
            <a:srgbClr val="5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영상 4종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0303" y="2731261"/>
            <a:ext cx="103555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0FF"/>
                </a:solidFill>
                <a:latin typeface="Pretendard"/>
              </a:defRPr>
            </a:pPr>
            <a:r>
              <a:t>외부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79" y="3124453"/>
            <a:ext cx="825703" cy="320040"/>
          </a:xfrm>
          <a:prstGeom prst="rect">
            <a:avLst/>
          </a:prstGeom>
          <a:solidFill>
            <a:srgbClr val="5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0303" y="3124453"/>
            <a:ext cx="103555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0FF"/>
                </a:solidFill>
                <a:latin typeface="Pretendard"/>
              </a:defRPr>
            </a:pPr>
            <a:r>
              <a:t>외주 협력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109469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8BEE6"/>
                </a:solidFill>
                <a:latin typeface="Pretendard Medium"/>
              </a:defRPr>
            </a:pPr>
            <a:r>
              <a:t>방송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338069"/>
            <a:ext cx="825703" cy="320040"/>
          </a:xfrm>
          <a:prstGeom prst="rect">
            <a:avLst/>
          </a:prstGeom>
          <a:solidFill>
            <a:srgbClr val="5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방송 PD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3423" y="2338069"/>
            <a:ext cx="103555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0FF"/>
                </a:solidFill>
                <a:latin typeface="Pretendard"/>
              </a:defRPr>
            </a:pPr>
            <a:r>
              <a:t>공만진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731261"/>
            <a:ext cx="825703" cy="320040"/>
          </a:xfrm>
          <a:prstGeom prst="rect">
            <a:avLst/>
          </a:prstGeom>
          <a:solidFill>
            <a:srgbClr val="5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스위처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3423" y="2731261"/>
            <a:ext cx="103555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0FF"/>
                </a:solidFill>
                <a:latin typeface="Pretendard"/>
              </a:defRPr>
            </a:pPr>
            <a:r>
              <a:t>1명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124453"/>
            <a:ext cx="825703" cy="320040"/>
          </a:xfrm>
          <a:prstGeom prst="rect">
            <a:avLst/>
          </a:prstGeom>
          <a:solidFill>
            <a:srgbClr val="5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그래픽 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3423" y="3124453"/>
            <a:ext cx="103555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0FF"/>
                </a:solidFill>
                <a:latin typeface="Pretendard"/>
              </a:defRPr>
            </a:pPr>
            <a:r>
              <a:t>1명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109469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8BEE6"/>
                </a:solidFill>
                <a:latin typeface="Pretendard Medium"/>
              </a:defRPr>
            </a:pPr>
            <a:r>
              <a:t>운영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338069"/>
            <a:ext cx="825703" cy="320040"/>
          </a:xfrm>
          <a:prstGeom prst="rect">
            <a:avLst/>
          </a:prstGeom>
          <a:solidFill>
            <a:srgbClr val="5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현장 운영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6543" y="2338069"/>
            <a:ext cx="103555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0FF"/>
                </a:solidFill>
                <a:latin typeface="Pretendard"/>
              </a:defRPr>
            </a:pPr>
            <a:r>
              <a:t>박은원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2731261"/>
            <a:ext cx="825703" cy="320040"/>
          </a:xfrm>
          <a:prstGeom prst="rect">
            <a:avLst/>
          </a:prstGeom>
          <a:solidFill>
            <a:srgbClr val="5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MC 섭외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6543" y="2731261"/>
            <a:ext cx="103555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0FF"/>
                </a:solidFill>
                <a:latin typeface="Pretendard"/>
              </a:defRPr>
            </a:pPr>
            <a:r>
              <a:t>1명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124453"/>
            <a:ext cx="825703" cy="320040"/>
          </a:xfrm>
          <a:prstGeom prst="rect">
            <a:avLst/>
          </a:prstGeom>
          <a:solidFill>
            <a:srgbClr val="50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인터랙션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6543" y="3124453"/>
            <a:ext cx="1035558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5F0FF"/>
                </a:solidFill>
                <a:latin typeface="Pretendard"/>
              </a:defRPr>
            </a:pPr>
            <a:r>
              <a:t>1명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RISK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라이브 방송 고유 리스크에 대한 4단 대응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기술·콘텐츠·커뮤니케이션 3영역 매뉴얼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109469"/>
          <a:ext cx="8412480" cy="2805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67571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영역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리스크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대응 방안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</a:tr>
              <a:tr h="467571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기술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스트리밍 끊김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2중 인코더 · 회선 이중화 · 엔지니어 상주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67571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기술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음향·영상 싱크 오류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리허설 2회 · 실시간 모니터링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67571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콘텐츠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대본 지연·시간 초과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진행 큐시트 · 3단 지연 대응 시나리오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67571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콘텐츠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스포일러 노출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NDA + 화면 워터마크 + 편집자 승인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67571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소통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부정적 채팅 폭주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실시간 모더레이션 + 긴정 채팅 모드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RESULT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7월 말까지 제출하는 결과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데이터 · 콘텐츠 · 인사이트 3파트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정량 데이터</a:t>
            </a:r>
            <a:br/>
            <a:r>
              <a:t>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시청·체류·채팅 수 · 피크 동접 · 지역 분포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CONTENT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사후 활용</a:t>
            </a:r>
            <a:br/>
            <a:r>
              <a:t>자산 아카이브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영상·숏폼·그래픽 · 후속 PR 소재 정리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INSIGHT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다음 쇼케이스</a:t>
            </a:r>
            <a:br/>
            <a:r>
              <a:t>개선 제안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관객 반응 분석 + 차기 기획 인사이트 정리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02A"/>
            </a:gs>
            <a:gs pos="100000">
              <a:srgbClr val="211F3C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990534"/>
            <a:ext cx="8412480" cy="10287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5F0FF"/>
                </a:solidFill>
                <a:latin typeface="Pretendard Black"/>
              </a:defRPr>
            </a:pPr>
            <a:r>
              <a:t>WHY LAON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064954"/>
            <a:ext cx="8412480" cy="36004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라이브 방송 · 게임 IP 전문성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533584"/>
            <a:ext cx="8412480" cy="30860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C4E0"/>
                </a:solidFill>
                <a:latin typeface="Pretendard"/>
              </a:defRPr>
            </a:pPr>
            <a:r>
              <a:t>이미 해왔고, 더 잘할 수 있는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7777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CREDENTIALS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넥슨 IP · 대형 쇼케이스 · 라이브 방송 실적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2024-2026, 라온의 연속 수주 및 수행 기록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55190"/>
            <a:ext cx="2682240" cy="1683258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00910"/>
            <a:ext cx="2682240" cy="8416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65144"/>
            <a:ext cx="2682240" cy="50497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2024~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4128"/>
            <a:ext cx="1828800" cy="457200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2024~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12767"/>
            <a:ext cx="26822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NYPC 넥슨 청소년 코딩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24248"/>
            <a:ext cx="2682240" cy="3906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넥슨 사옥 대회 운영 · 10년 파트너십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0880" y="2155190"/>
            <a:ext cx="2682240" cy="1683258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30880" y="2200910"/>
            <a:ext cx="2682240" cy="8416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0880" y="3165144"/>
            <a:ext cx="2682240" cy="50497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2025.03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5199" y="3564128"/>
            <a:ext cx="1828800" cy="457200"/>
          </a:xfrm>
          <a:prstGeom prst="rect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2025.03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0880" y="4112767"/>
            <a:ext cx="26822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DATADOG SUMMIT SEOUL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0880" y="4524248"/>
            <a:ext cx="2682240" cy="3906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대형 행사 라이브 방송 · 그래픽 운영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0" y="2155190"/>
            <a:ext cx="2682240" cy="1683258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0" y="2200910"/>
            <a:ext cx="2682240" cy="8416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3165144"/>
            <a:ext cx="2682240" cy="50497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70320" y="3564128"/>
            <a:ext cx="1828800" cy="457200"/>
          </a:xfrm>
          <a:prstGeom prst="rect">
            <a:avLst/>
          </a:prstGeom>
          <a:solidFill>
            <a:srgbClr val="F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200" b="1">
                <a:solidFill>
                  <a:srgbClr val="F5F0FF"/>
                </a:solidFill>
                <a:latin typeface="Pretendard Bold"/>
              </a:rP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4112767"/>
            <a:ext cx="26822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VARCO · 메커톤 수주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4524248"/>
            <a:ext cx="2682240" cy="39065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NC AI 쇼케이스 + 메이플 메커톤 2건 수주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CORE CAPABILITY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이 쇼케이스에 적합한 3가지 차별 역량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게임 IP · 라이브 방송 · 콘텐츠 확산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① IP UNDERSTANDING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① IP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판타지 게임 IP</a:t>
            </a:r>
            <a:br/>
            <a:r>
              <a:t>감성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IP 세계관 해석 · 팬덤 감정선 케어 경험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② LIVE BROADCAST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501796"/>
            <a:ext cx="2651760" cy="36576"/>
          </a:xfrm>
          <a:prstGeom prst="rect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② LIVE BROADCAST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4K 멀티캠</a:t>
            </a:r>
            <a:br/>
            <a:r>
              <a:t>라이브 연출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전담 방송 PD · 스위처 · 그래픽 OP 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③ CONTENT AMP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501796"/>
            <a:ext cx="2651760" cy="36576"/>
          </a:xfrm>
          <a:prstGeom prst="rect">
            <a:avLst/>
          </a:prstGeom>
          <a:solidFill>
            <a:srgbClr val="F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0C4E0"/>
                </a:solidFill>
                <a:latin typeface="Pretendard Bold"/>
              </a:defRPr>
            </a:pPr>
            <a:r>
              <a:t>③ CONTENT AMP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후속 콘텐츠</a:t>
            </a:r>
            <a:br/>
            <a:r>
              <a:t>자산화 운영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숏폼·클립·요약본 동시 생성 · 2주 운영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KEY PORTFOLIO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라이브 방송·쇼케이스 실제 제작물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OAP · 세트 · 그래픽 포트폴리오 링크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6629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8BEE6"/>
                </a:solidFill>
                <a:latin typeface="Pretendard"/>
              </a:defRPr>
            </a:pPr>
            <a:r>
              <a:t>상세 포트폴리오는 별도 웹하드/링크로 제공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703829"/>
          <a:ext cx="8412480" cy="2256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451358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프로젝트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유형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핵심 제작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</a:tr>
              <a:tr h="451358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DATADOG SUMMIT 2025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라이브 방송 · 그래픽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4K 멀티캠 · G/B 제작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51358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NYPC 2024 현장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오프라인 + 온라인 중계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시네마틱 영상 + 현장 송출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51358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VARCO Commerce 2026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쇼케이스 운영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인플루언서 150명 수주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451358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메이플 메커톤 2026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게임 이벤트 운영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제안서 수주 (2026.04)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02A"/>
            </a:gs>
            <a:gs pos="100000">
              <a:srgbClr val="211F3C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990534"/>
            <a:ext cx="8412480" cy="10287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5F0FF"/>
                </a:solidFill>
                <a:latin typeface="Pretendard Black"/>
              </a:defRPr>
            </a:pPr>
            <a:r>
              <a:t>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064954"/>
            <a:ext cx="8412480" cy="36004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5억 예산 가견적서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533584"/>
            <a:ext cx="8412480" cy="30860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C4E0"/>
                </a:solidFill>
                <a:latin typeface="Pretendard"/>
              </a:defRPr>
            </a:pPr>
            <a:r>
              <a:t>적정성 기반 예산 구성 — 100% 소진 아닌 최적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47777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BUDGET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가견적 총 4억 8,000만원 (VAT별도) · 예산 2천만원 여유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제작 46% · 방송 17% · 운영 10% · 부가 10%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109469"/>
          <a:ext cx="8412480" cy="228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28511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항목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금액 (원)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비중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 b="1">
                          <a:solidFill>
                            <a:srgbClr val="F5F0FF"/>
                          </a:solidFill>
                          <a:latin typeface="Pretendard Bold"/>
                        </a:rPr>
                        <a:t>세부</a:t>
                      </a:r>
                    </a:p>
                  </a:txBody>
                  <a:tcPr anchor="ctr">
                    <a:solidFill>
                      <a:srgbClr val="503C8C"/>
                    </a:solidFill>
                  </a:tcPr>
                </a:tc>
              </a:tr>
              <a:tr h="28511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공간·세트 제작·구축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120,000,000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25%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메인+캠프파이어+LED 월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28511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영상 제작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100,000,000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21%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OAP·타이틀·루핑·후속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28511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방송 기술·송출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80,000,000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17%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4K 멀티캠·엔지니어링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28511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운영 인력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50,000,000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10%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13인 TF·리허설 포함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28511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부가 프로그램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50,000,000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10%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게스트·공연·이벤트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28511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방송 그래픽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30,000,000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6%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G/B·Lower Third·전환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  <a:tr h="285115"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콘텐츠·운영·예비</a:t>
                      </a:r>
                    </a:p>
                  </a:txBody>
                  <a:tcPr anchor="ctr">
                    <a:solidFill>
                      <a:srgbClr val="211F3C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50,000,000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11%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pPr algn="ctr"/>
                      <a:r>
                        <a:rPr sz="1400">
                          <a:solidFill>
                            <a:srgbClr val="F5F0FF"/>
                          </a:solidFill>
                          <a:latin typeface="Pretendard"/>
                        </a:rPr>
                        <a:t>채팅 모더레이션·돌발 대응</a:t>
                      </a:r>
                    </a:p>
                  </a:txBody>
                  <a:tcPr anchor="ctr">
                    <a:solidFill>
                      <a:srgbClr val="14102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4554982"/>
            <a:ext cx="8412480" cy="270859"/>
          </a:xfrm>
          <a:prstGeom prst="rect">
            <a:avLst/>
          </a:prstGeom>
          <a:solidFill>
            <a:srgbClr val="0A0819"/>
          </a:solidFill>
          <a:ln w="12700">
            <a:solidFill>
              <a:srgbClr val="D4A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554982"/>
            <a:ext cx="1682495" cy="2708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F66"/>
                </a:solidFill>
                <a:latin typeface="Pretendard Bold"/>
              </a:defRPr>
            </a:pPr>
            <a:r>
              <a:t>소계 (VAT 별도)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3" y="4554982"/>
            <a:ext cx="2944368" cy="2708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480,000,000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3872" y="4554982"/>
            <a:ext cx="2776118" cy="27085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BEE6"/>
                </a:solidFill>
                <a:latin typeface="Pretendard"/>
              </a:defRPr>
            </a:pPr>
            <a:r>
              <a:t>예산 5억 내 · 2천만원 여유 확보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BUDGET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RFP '예산 적정성' 평가 반영 — 100% 소진이 목표가 아닙니다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적정·투명·선택과 집중 3원칙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① 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①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적정</a:t>
            </a:r>
            <a:br/>
            <a:r>
              <a:t>시장 평균 기반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항목별 시장가 기준 · 부풀리기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② TRANSPARENT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501796"/>
            <a:ext cx="2651760" cy="36576"/>
          </a:xfrm>
          <a:prstGeom prst="rect">
            <a:avLst/>
          </a:prstGeom>
          <a:solidFill>
            <a:srgbClr val="D4A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② TRANSPARENT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투명</a:t>
            </a:r>
            <a:br/>
            <a:r>
              <a:t>산출 근거 명시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항목별 단가 · 수량 · 총액 명확 기재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③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501796"/>
            <a:ext cx="2651760" cy="36576"/>
          </a:xfrm>
          <a:prstGeom prst="rect">
            <a:avLst/>
          </a:prstGeom>
          <a:solidFill>
            <a:srgbClr val="F0C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0C4E0"/>
                </a:solidFill>
                <a:latin typeface="Pretendard Bold"/>
              </a:defRPr>
            </a:pPr>
            <a:r>
              <a:t>③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선택과 집중</a:t>
            </a:r>
            <a:br/>
            <a:r>
              <a:t>핵심에 배분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제작·방송에 62% 집중 · 여유 2천만원 확보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0045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F0FF"/>
                </a:solidFill>
                <a:latin typeface="Pretendard Bold"/>
              </a:defRPr>
            </a:pPr>
            <a:r>
              <a:t>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17245"/>
            <a:ext cx="8412480" cy="4572"/>
          </a:xfrm>
          <a:prstGeom prst="rect">
            <a:avLst/>
          </a:prstGeom>
          <a:solidFill>
            <a:srgbClr val="504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25830"/>
            <a:ext cx="8412480" cy="340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F5A71"/>
                </a:solidFill>
                <a:latin typeface="Pretendard"/>
              </a:defRPr>
            </a:pPr>
            <a:r>
              <a:t>쇼케이스가 남겨야 할 정성·정량 가치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6190"/>
            <a:ext cx="8412480" cy="6603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5F0FF"/>
                </a:solidFill>
                <a:latin typeface="Pretendard Bold"/>
              </a:defRPr>
            </a:pPr>
            <a:r>
              <a:t>시청·참여·자산 3단계 효과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VIEWING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VIEWING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라이브 동시 시청</a:t>
            </a:r>
            <a:br/>
            <a:r>
              <a:t>높은 체류 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평균 체류 40분+ 목표 · 피크 동접 극대화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ENGAGE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ENGAGE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실시간 채팅</a:t>
            </a:r>
            <a:br/>
            <a:r>
              <a:t>활성도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채팅 CPM · 시청자 질문 반영률 지표화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55190"/>
            <a:ext cx="2651760" cy="1346606"/>
          </a:xfrm>
          <a:prstGeom prst="rect">
            <a:avLst/>
          </a:prstGeom>
          <a:solidFill>
            <a:srgbClr val="292E3A"/>
          </a:solidFill>
          <a:ln w="12700">
            <a:solidFill>
              <a:srgbClr val="3A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200910"/>
            <a:ext cx="2651760" cy="673303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586070"/>
                </a:solidFill>
                <a:latin typeface="Pretendard"/>
              </a:defRPr>
            </a:pPr>
            <a:r>
              <a:t>[IMG]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63153"/>
            <a:ext cx="2651760" cy="403981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898"/>
                </a:solidFill>
                <a:latin typeface="Pretendard"/>
              </a:defRPr>
            </a:pPr>
            <a:r>
              <a:t>ASSET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501796"/>
            <a:ext cx="2651760" cy="36576"/>
          </a:xfrm>
          <a:prstGeom prst="rect">
            <a:avLst/>
          </a:prstGeom>
          <a:solidFill>
            <a:srgbClr val="9D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611524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D7DFF"/>
                </a:solidFill>
                <a:latin typeface="Pretendard Bold"/>
              </a:defRPr>
            </a:pPr>
            <a:r>
              <a:t>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885844"/>
            <a:ext cx="2651760" cy="451405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5F0FF"/>
                </a:solidFill>
                <a:latin typeface="Pretendard Bold"/>
              </a:defRPr>
            </a:pPr>
            <a:r>
              <a:t>2주간 후속</a:t>
            </a:r>
            <a:br/>
            <a:r>
              <a:t>프로모션 연료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382970"/>
            <a:ext cx="2651760" cy="53192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F5A71"/>
                </a:solidFill>
                <a:latin typeface="Pretendard"/>
              </a:defRPr>
            </a:pPr>
            <a:r>
              <a:t>숏폼 5종+ · 요약 영상 · PR 소재 팩키지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869180"/>
            <a:ext cx="841248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691B4"/>
                </a:solidFill>
                <a:latin typeface="Pretendard"/>
              </a:defRPr>
            </a:pPr>
            <a:r>
              <a:t>정확한 KPI는 클라이언트 합의 후 확정. 구체적 수치는 NDA 협의 하 별도 제안.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14350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31570"/>
            <a:ext cx="84124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gradFill flip="none" rotWithShape="1">
                  <a:gsLst>
                    <a:gs pos="0">
                      <a:srgbClr val="6868F1"/>
                    </a:gs>
                    <a:gs pos="100000">
                      <a:srgbClr val="DD6495"/>
                    </a:gs>
                  </a:gsLst>
                  <a:lin ang="0" scaled="1"/>
                </a:gradFill>
                <a:latin typeface="Pretendard Bold"/>
              </a:rPr>
              <a:t>다음은 함께 둘러앉을 준비입니다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468879"/>
            <a:ext cx="2621279" cy="1371600"/>
          </a:xfrm>
          <a:prstGeom prst="rect">
            <a:avLst/>
          </a:prstGeom>
          <a:solidFill>
            <a:srgbClr val="231C41"/>
          </a:solidFill>
          <a:ln w="12700">
            <a:solidFill>
              <a:srgbClr val="9D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697479"/>
            <a:ext cx="262127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63239"/>
            <a:ext cx="2621279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제안 심사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262127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BEE6"/>
                </a:solidFill>
                <a:latin typeface="Pretendard"/>
              </a:defRPr>
            </a:pPr>
            <a:r>
              <a:t>4/26~5/01 결과 발표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1359" y="2468879"/>
            <a:ext cx="2621279" cy="1371600"/>
          </a:xfrm>
          <a:prstGeom prst="rect">
            <a:avLst/>
          </a:prstGeom>
          <a:solidFill>
            <a:srgbClr val="231C41"/>
          </a:solidFill>
          <a:ln w="12700">
            <a:solidFill>
              <a:srgbClr val="9D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1359" y="2697479"/>
            <a:ext cx="262127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1359" y="3063239"/>
            <a:ext cx="2621279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계약 체결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1359" y="3474720"/>
            <a:ext cx="262127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BEE6"/>
                </a:solidFill>
                <a:latin typeface="Pretendard"/>
              </a:defRPr>
            </a:pPr>
            <a:r>
              <a:t>5/07 공식 착수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6959" y="2468879"/>
            <a:ext cx="2621279" cy="1371600"/>
          </a:xfrm>
          <a:prstGeom prst="rect">
            <a:avLst/>
          </a:prstGeom>
          <a:solidFill>
            <a:srgbClr val="231C41"/>
          </a:solidFill>
          <a:ln w="12700">
            <a:solidFill>
              <a:srgbClr val="9D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6959" y="2697479"/>
            <a:ext cx="262127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F66"/>
                </a:solidFill>
                <a:latin typeface="Pretendard Bold"/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6959" y="3063239"/>
            <a:ext cx="2621279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5F0FF"/>
                </a:solidFill>
                <a:latin typeface="Pretendard Bold"/>
              </a:defRPr>
            </a:pPr>
            <a:r>
              <a:t>★ 캠프파이어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6959" y="3474720"/>
            <a:ext cx="2621279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8BEE6"/>
                </a:solidFill>
                <a:latin typeface="Pretendard"/>
              </a:defRPr>
            </a:pPr>
            <a:r>
              <a:t>6월 중순 방송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00224"/>
            <a:ext cx="84124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>
                <a:gradFill flip="none" rotWithShape="1">
                  <a:gsLst>
                    <a:gs pos="0">
                      <a:srgbClr val="6868F1"/>
                    </a:gs>
                    <a:gs pos="100000">
                      <a:srgbClr val="DD6495"/>
                    </a:gs>
                  </a:gsLst>
                  <a:lin ang="0" scaled="1"/>
                </a:gradFill>
                <a:latin typeface="Pretendard Black"/>
              </a:rPr>
              <a:t>E.O.D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343275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8BEE6"/>
                </a:solidFill>
                <a:latin typeface="Pretendard"/>
              </a:defRPr>
            </a:pPr>
            <a:r>
              <a:t>ALL RIGHTS RESERVED BY LAON MARKETING COMPANY.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651885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8BEE6"/>
                </a:solidFill>
                <a:latin typeface="Pretendard"/>
              </a:defRPr>
            </a:pPr>
            <a:r>
              <a:t>이 제안서는 넥슨과 라온 간 협의용이며, 무단 배포를 금합니다.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